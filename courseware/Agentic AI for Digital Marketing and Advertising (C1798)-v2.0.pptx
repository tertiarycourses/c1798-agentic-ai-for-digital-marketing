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3" r:id="rId14"/>
    <p:sldId id="268" r:id="rId19"/>
    <p:sldId id="269" r:id="rId20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2" r:id="rId223"/>
    <p:sldId id="473" r:id="rId2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73.xml"/><Relationship Id="rId88" Type="http://schemas.openxmlformats.org/officeDocument/2006/relationships/slide" Target="slides/slide74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Relationship Id="rId103" Type="http://schemas.openxmlformats.org/officeDocument/2006/relationships/slide" Target="slides/slide89.xml"/><Relationship Id="rId104" Type="http://schemas.openxmlformats.org/officeDocument/2006/relationships/slide" Target="slides/slide90.xml"/><Relationship Id="rId105" Type="http://schemas.openxmlformats.org/officeDocument/2006/relationships/slide" Target="slides/slide91.xml"/><Relationship Id="rId106" Type="http://schemas.openxmlformats.org/officeDocument/2006/relationships/slide" Target="slides/slide92.xml"/><Relationship Id="rId107" Type="http://schemas.openxmlformats.org/officeDocument/2006/relationships/slide" Target="slides/slide93.xml"/><Relationship Id="rId108" Type="http://schemas.openxmlformats.org/officeDocument/2006/relationships/slide" Target="slides/slide94.xml"/><Relationship Id="rId109" Type="http://schemas.openxmlformats.org/officeDocument/2006/relationships/slide" Target="slides/slide95.xml"/><Relationship Id="rId110" Type="http://schemas.openxmlformats.org/officeDocument/2006/relationships/slide" Target="slides/slide96.xml"/><Relationship Id="rId111" Type="http://schemas.openxmlformats.org/officeDocument/2006/relationships/slide" Target="slides/slide97.xml"/><Relationship Id="rId112" Type="http://schemas.openxmlformats.org/officeDocument/2006/relationships/slide" Target="slides/slide98.xml"/><Relationship Id="rId113" Type="http://schemas.openxmlformats.org/officeDocument/2006/relationships/slide" Target="slides/slide99.xml"/><Relationship Id="rId114" Type="http://schemas.openxmlformats.org/officeDocument/2006/relationships/slide" Target="slides/slide100.xml"/><Relationship Id="rId115" Type="http://schemas.openxmlformats.org/officeDocument/2006/relationships/slide" Target="slides/slide101.xml"/><Relationship Id="rId116" Type="http://schemas.openxmlformats.org/officeDocument/2006/relationships/slide" Target="slides/slide102.xml"/><Relationship Id="rId117" Type="http://schemas.openxmlformats.org/officeDocument/2006/relationships/slide" Target="slides/slide103.xml"/><Relationship Id="rId118" Type="http://schemas.openxmlformats.org/officeDocument/2006/relationships/slide" Target="slides/slide104.xml"/><Relationship Id="rId119" Type="http://schemas.openxmlformats.org/officeDocument/2006/relationships/slide" Target="slides/slide105.xml"/><Relationship Id="rId120" Type="http://schemas.openxmlformats.org/officeDocument/2006/relationships/slide" Target="slides/slide106.xml"/><Relationship Id="rId121" Type="http://schemas.openxmlformats.org/officeDocument/2006/relationships/slide" Target="slides/slide107.xml"/><Relationship Id="rId122" Type="http://schemas.openxmlformats.org/officeDocument/2006/relationships/slide" Target="slides/slide108.xml"/><Relationship Id="rId123" Type="http://schemas.openxmlformats.org/officeDocument/2006/relationships/slide" Target="slides/slide109.xml"/><Relationship Id="rId124" Type="http://schemas.openxmlformats.org/officeDocument/2006/relationships/slide" Target="slides/slide110.xml"/><Relationship Id="rId125" Type="http://schemas.openxmlformats.org/officeDocument/2006/relationships/slide" Target="slides/slide111.xml"/><Relationship Id="rId126" Type="http://schemas.openxmlformats.org/officeDocument/2006/relationships/slide" Target="slides/slide112.xml"/><Relationship Id="rId127" Type="http://schemas.openxmlformats.org/officeDocument/2006/relationships/slide" Target="slides/slide113.xml"/><Relationship Id="rId128" Type="http://schemas.openxmlformats.org/officeDocument/2006/relationships/slide" Target="slides/slide114.xml"/><Relationship Id="rId129" Type="http://schemas.openxmlformats.org/officeDocument/2006/relationships/slide" Target="slides/slide115.xml"/><Relationship Id="rId130" Type="http://schemas.openxmlformats.org/officeDocument/2006/relationships/slide" Target="slides/slide116.xml"/><Relationship Id="rId131" Type="http://schemas.openxmlformats.org/officeDocument/2006/relationships/slide" Target="slides/slide117.xml"/><Relationship Id="rId132" Type="http://schemas.openxmlformats.org/officeDocument/2006/relationships/slide" Target="slides/slide118.xml"/><Relationship Id="rId133" Type="http://schemas.openxmlformats.org/officeDocument/2006/relationships/slide" Target="slides/slide119.xml"/><Relationship Id="rId134" Type="http://schemas.openxmlformats.org/officeDocument/2006/relationships/slide" Target="slides/slide120.xml"/><Relationship Id="rId135" Type="http://schemas.openxmlformats.org/officeDocument/2006/relationships/slide" Target="slides/slide121.xml"/><Relationship Id="rId136" Type="http://schemas.openxmlformats.org/officeDocument/2006/relationships/slide" Target="slides/slide122.xml"/><Relationship Id="rId137" Type="http://schemas.openxmlformats.org/officeDocument/2006/relationships/slide" Target="slides/slide123.xml"/><Relationship Id="rId138" Type="http://schemas.openxmlformats.org/officeDocument/2006/relationships/slide" Target="slides/slide124.xml"/><Relationship Id="rId139" Type="http://schemas.openxmlformats.org/officeDocument/2006/relationships/slide" Target="slides/slide125.xml"/><Relationship Id="rId140" Type="http://schemas.openxmlformats.org/officeDocument/2006/relationships/slide" Target="slides/slide126.xml"/><Relationship Id="rId141" Type="http://schemas.openxmlformats.org/officeDocument/2006/relationships/slide" Target="slides/slide127.xml"/><Relationship Id="rId142" Type="http://schemas.openxmlformats.org/officeDocument/2006/relationships/slide" Target="slides/slide128.xml"/><Relationship Id="rId143" Type="http://schemas.openxmlformats.org/officeDocument/2006/relationships/slide" Target="slides/slide129.xml"/><Relationship Id="rId144" Type="http://schemas.openxmlformats.org/officeDocument/2006/relationships/slide" Target="slides/slide130.xml"/><Relationship Id="rId145" Type="http://schemas.openxmlformats.org/officeDocument/2006/relationships/slide" Target="slides/slide131.xml"/><Relationship Id="rId146" Type="http://schemas.openxmlformats.org/officeDocument/2006/relationships/slide" Target="slides/slide132.xml"/><Relationship Id="rId147" Type="http://schemas.openxmlformats.org/officeDocument/2006/relationships/slide" Target="slides/slide133.xml"/><Relationship Id="rId148" Type="http://schemas.openxmlformats.org/officeDocument/2006/relationships/slide" Target="slides/slide134.xml"/><Relationship Id="rId149" Type="http://schemas.openxmlformats.org/officeDocument/2006/relationships/slide" Target="slides/slide135.xml"/><Relationship Id="rId150" Type="http://schemas.openxmlformats.org/officeDocument/2006/relationships/slide" Target="slides/slide136.xml"/><Relationship Id="rId151" Type="http://schemas.openxmlformats.org/officeDocument/2006/relationships/slide" Target="slides/slide137.xml"/><Relationship Id="rId152" Type="http://schemas.openxmlformats.org/officeDocument/2006/relationships/slide" Target="slides/slide138.xml"/><Relationship Id="rId153" Type="http://schemas.openxmlformats.org/officeDocument/2006/relationships/slide" Target="slides/slide139.xml"/><Relationship Id="rId154" Type="http://schemas.openxmlformats.org/officeDocument/2006/relationships/slide" Target="slides/slide140.xml"/><Relationship Id="rId155" Type="http://schemas.openxmlformats.org/officeDocument/2006/relationships/slide" Target="slides/slide141.xml"/><Relationship Id="rId156" Type="http://schemas.openxmlformats.org/officeDocument/2006/relationships/slide" Target="slides/slide142.xml"/><Relationship Id="rId157" Type="http://schemas.openxmlformats.org/officeDocument/2006/relationships/slide" Target="slides/slide143.xml"/><Relationship Id="rId158" Type="http://schemas.openxmlformats.org/officeDocument/2006/relationships/slide" Target="slides/slide144.xml"/><Relationship Id="rId159" Type="http://schemas.openxmlformats.org/officeDocument/2006/relationships/slide" Target="slides/slide145.xml"/><Relationship Id="rId160" Type="http://schemas.openxmlformats.org/officeDocument/2006/relationships/slide" Target="slides/slide146.xml"/><Relationship Id="rId161" Type="http://schemas.openxmlformats.org/officeDocument/2006/relationships/slide" Target="slides/slide147.xml"/><Relationship Id="rId162" Type="http://schemas.openxmlformats.org/officeDocument/2006/relationships/slide" Target="slides/slide148.xml"/><Relationship Id="rId163" Type="http://schemas.openxmlformats.org/officeDocument/2006/relationships/slide" Target="slides/slide149.xml"/><Relationship Id="rId164" Type="http://schemas.openxmlformats.org/officeDocument/2006/relationships/slide" Target="slides/slide150.xml"/><Relationship Id="rId165" Type="http://schemas.openxmlformats.org/officeDocument/2006/relationships/slide" Target="slides/slide151.xml"/><Relationship Id="rId166" Type="http://schemas.openxmlformats.org/officeDocument/2006/relationships/slide" Target="slides/slide152.xml"/><Relationship Id="rId167" Type="http://schemas.openxmlformats.org/officeDocument/2006/relationships/slide" Target="slides/slide153.xml"/><Relationship Id="rId168" Type="http://schemas.openxmlformats.org/officeDocument/2006/relationships/slide" Target="slides/slide154.xml"/><Relationship Id="rId169" Type="http://schemas.openxmlformats.org/officeDocument/2006/relationships/slide" Target="slides/slide155.xml"/><Relationship Id="rId170" Type="http://schemas.openxmlformats.org/officeDocument/2006/relationships/slide" Target="slides/slide156.xml"/><Relationship Id="rId171" Type="http://schemas.openxmlformats.org/officeDocument/2006/relationships/slide" Target="slides/slide157.xml"/><Relationship Id="rId172" Type="http://schemas.openxmlformats.org/officeDocument/2006/relationships/slide" Target="slides/slide158.xml"/><Relationship Id="rId173" Type="http://schemas.openxmlformats.org/officeDocument/2006/relationships/slide" Target="slides/slide159.xml"/><Relationship Id="rId174" Type="http://schemas.openxmlformats.org/officeDocument/2006/relationships/slide" Target="slides/slide160.xml"/><Relationship Id="rId175" Type="http://schemas.openxmlformats.org/officeDocument/2006/relationships/slide" Target="slides/slide161.xml"/><Relationship Id="rId176" Type="http://schemas.openxmlformats.org/officeDocument/2006/relationships/slide" Target="slides/slide162.xml"/><Relationship Id="rId177" Type="http://schemas.openxmlformats.org/officeDocument/2006/relationships/slide" Target="slides/slide163.xml"/><Relationship Id="rId178" Type="http://schemas.openxmlformats.org/officeDocument/2006/relationships/slide" Target="slides/slide164.xml"/><Relationship Id="rId179" Type="http://schemas.openxmlformats.org/officeDocument/2006/relationships/slide" Target="slides/slide165.xml"/><Relationship Id="rId180" Type="http://schemas.openxmlformats.org/officeDocument/2006/relationships/slide" Target="slides/slide166.xml"/><Relationship Id="rId181" Type="http://schemas.openxmlformats.org/officeDocument/2006/relationships/slide" Target="slides/slide167.xml"/><Relationship Id="rId182" Type="http://schemas.openxmlformats.org/officeDocument/2006/relationships/slide" Target="slides/slide168.xml"/><Relationship Id="rId183" Type="http://schemas.openxmlformats.org/officeDocument/2006/relationships/slide" Target="slides/slide169.xml"/><Relationship Id="rId184" Type="http://schemas.openxmlformats.org/officeDocument/2006/relationships/slide" Target="slides/slide170.xml"/><Relationship Id="rId185" Type="http://schemas.openxmlformats.org/officeDocument/2006/relationships/slide" Target="slides/slide171.xml"/><Relationship Id="rId186" Type="http://schemas.openxmlformats.org/officeDocument/2006/relationships/slide" Target="slides/slide172.xml"/><Relationship Id="rId187" Type="http://schemas.openxmlformats.org/officeDocument/2006/relationships/slide" Target="slides/slide173.xml"/><Relationship Id="rId188" Type="http://schemas.openxmlformats.org/officeDocument/2006/relationships/slide" Target="slides/slide174.xml"/><Relationship Id="rId189" Type="http://schemas.openxmlformats.org/officeDocument/2006/relationships/slide" Target="slides/slide175.xml"/><Relationship Id="rId190" Type="http://schemas.openxmlformats.org/officeDocument/2006/relationships/slide" Target="slides/slide176.xml"/><Relationship Id="rId191" Type="http://schemas.openxmlformats.org/officeDocument/2006/relationships/slide" Target="slides/slide177.xml"/><Relationship Id="rId192" Type="http://schemas.openxmlformats.org/officeDocument/2006/relationships/slide" Target="slides/slide178.xml"/><Relationship Id="rId193" Type="http://schemas.openxmlformats.org/officeDocument/2006/relationships/slide" Target="slides/slide179.xml"/><Relationship Id="rId194" Type="http://schemas.openxmlformats.org/officeDocument/2006/relationships/slide" Target="slides/slide180.xml"/><Relationship Id="rId195" Type="http://schemas.openxmlformats.org/officeDocument/2006/relationships/slide" Target="slides/slide181.xml"/><Relationship Id="rId196" Type="http://schemas.openxmlformats.org/officeDocument/2006/relationships/slide" Target="slides/slide182.xml"/><Relationship Id="rId197" Type="http://schemas.openxmlformats.org/officeDocument/2006/relationships/slide" Target="slides/slide183.xml"/><Relationship Id="rId198" Type="http://schemas.openxmlformats.org/officeDocument/2006/relationships/slide" Target="slides/slide184.xml"/><Relationship Id="rId199" Type="http://schemas.openxmlformats.org/officeDocument/2006/relationships/slide" Target="slides/slide185.xml"/><Relationship Id="rId200" Type="http://schemas.openxmlformats.org/officeDocument/2006/relationships/slide" Target="slides/slide186.xml"/><Relationship Id="rId201" Type="http://schemas.openxmlformats.org/officeDocument/2006/relationships/slide" Target="slides/slide187.xml"/><Relationship Id="rId202" Type="http://schemas.openxmlformats.org/officeDocument/2006/relationships/slide" Target="slides/slide188.xml"/><Relationship Id="rId203" Type="http://schemas.openxmlformats.org/officeDocument/2006/relationships/slide" Target="slides/slide189.xml"/><Relationship Id="rId204" Type="http://schemas.openxmlformats.org/officeDocument/2006/relationships/slide" Target="slides/slide190.xml"/><Relationship Id="rId205" Type="http://schemas.openxmlformats.org/officeDocument/2006/relationships/slide" Target="slides/slide191.xml"/><Relationship Id="rId206" Type="http://schemas.openxmlformats.org/officeDocument/2006/relationships/slide" Target="slides/slide192.xml"/><Relationship Id="rId207" Type="http://schemas.openxmlformats.org/officeDocument/2006/relationships/slide" Target="slides/slide193.xml"/><Relationship Id="rId208" Type="http://schemas.openxmlformats.org/officeDocument/2006/relationships/slide" Target="slides/slide194.xml"/><Relationship Id="rId209" Type="http://schemas.openxmlformats.org/officeDocument/2006/relationships/slide" Target="slides/slide195.xml"/><Relationship Id="rId210" Type="http://schemas.openxmlformats.org/officeDocument/2006/relationships/slide" Target="slides/slide196.xml"/><Relationship Id="rId211" Type="http://schemas.openxmlformats.org/officeDocument/2006/relationships/slide" Target="slides/slide197.xml"/><Relationship Id="rId212" Type="http://schemas.openxmlformats.org/officeDocument/2006/relationships/slide" Target="slides/slide198.xml"/><Relationship Id="rId213" Type="http://schemas.openxmlformats.org/officeDocument/2006/relationships/slide" Target="slides/slide199.xml"/><Relationship Id="rId214" Type="http://schemas.openxmlformats.org/officeDocument/2006/relationships/slide" Target="slides/slide200.xml"/><Relationship Id="rId215" Type="http://schemas.openxmlformats.org/officeDocument/2006/relationships/slide" Target="slides/slide201.xml"/><Relationship Id="rId216" Type="http://schemas.openxmlformats.org/officeDocument/2006/relationships/slide" Target="slides/slide202.xml"/><Relationship Id="rId217" Type="http://schemas.openxmlformats.org/officeDocument/2006/relationships/slide" Target="slides/slide203.xml"/><Relationship Id="rId218" Type="http://schemas.openxmlformats.org/officeDocument/2006/relationships/slide" Target="slides/slide204.xml"/><Relationship Id="rId219" Type="http://schemas.openxmlformats.org/officeDocument/2006/relationships/slide" Target="slides/slide205.xml"/><Relationship Id="rId220" Type="http://schemas.openxmlformats.org/officeDocument/2006/relationships/slide" Target="slides/slide206.xml"/><Relationship Id="rId223" Type="http://schemas.openxmlformats.org/officeDocument/2006/relationships/slide" Target="slides/slide207.xml"/><Relationship Id="rId224" Type="http://schemas.openxmlformats.org/officeDocument/2006/relationships/slide" Target="slides/slide20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Reliability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Government</c:v>
                </c:pt>
                <c:pt idx="1">
                  <c:v>Industry</c:v>
                </c:pt>
                <c:pt idx="2">
                  <c:v>Vendor</c:v>
                </c:pt>
                <c:pt idx="3">
                  <c:v>Community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78</c:v>
                </c:pt>
                <c:pt idx="2">
                  <c:v>62</c:v>
                </c:pt>
                <c:pt idx="3">
                  <c:v>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Recency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Government</c:v>
                </c:pt>
                <c:pt idx="1">
                  <c:v>Industry</c:v>
                </c:pt>
                <c:pt idx="2">
                  <c:v>Vendor</c:v>
                </c:pt>
                <c:pt idx="3">
                  <c:v>Community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76</c:v>
                </c:pt>
                <c:pt idx="2">
                  <c:v>88</c:v>
                </c:pt>
                <c:pt idx="3">
                  <c:v>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Reliability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Government</c:v>
                </c:pt>
                <c:pt idx="1">
                  <c:v>Industry</c:v>
                </c:pt>
                <c:pt idx="2">
                  <c:v>Vendor</c:v>
                </c:pt>
                <c:pt idx="3">
                  <c:v>Community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78</c:v>
                </c:pt>
                <c:pt idx="2">
                  <c:v>62</c:v>
                </c:pt>
                <c:pt idx="3">
                  <c:v>48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Recency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Government</c:v>
                </c:pt>
                <c:pt idx="1">
                  <c:v>Industry</c:v>
                </c:pt>
                <c:pt idx="2">
                  <c:v>Vendor</c:v>
                </c:pt>
                <c:pt idx="3">
                  <c:v>Community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76</c:v>
                </c:pt>
                <c:pt idx="2">
                  <c:v>88</c:v>
                </c:pt>
                <c:pt idx="3">
                  <c:v>92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6.2</c:v>
                </c:pt>
                <c:pt idx="2">
                  <c:v>6.3</c:v>
                </c:pt>
                <c:pt idx="3">
                  <c:v>2.1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Confidence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3.2</c:v>
                </c:pt>
                <c:pt idx="1">
                  <c:v>4.8</c:v>
                </c:pt>
                <c:pt idx="2">
                  <c:v>4.5</c:v>
                </c:pt>
                <c:pt idx="3">
                  <c:v>2.4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4.5</c:v>
                </c:pt>
                <c:pt idx="1">
                  <c:v>6.2</c:v>
                </c:pt>
                <c:pt idx="2">
                  <c:v>6.3</c:v>
                </c:pt>
                <c:pt idx="3">
                  <c:v>2.1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Confidence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3.2</c:v>
                </c:pt>
                <c:pt idx="1">
                  <c:v>4.8</c:v>
                </c:pt>
                <c:pt idx="2">
                  <c:v>4.5</c:v>
                </c:pt>
                <c:pt idx="3">
                  <c:v>2.4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Email</c:v>
                </c:pt>
                <c:pt idx="2">
                  <c:v>LinkedIn</c:v>
                </c:pt>
                <c:pt idx="3">
                  <c:v>Instagram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91</c:v>
                </c:pt>
                <c:pt idx="2">
                  <c:v>87</c:v>
                </c:pt>
                <c:pt idx="3">
                  <c:v>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Rework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Email</c:v>
                </c:pt>
                <c:pt idx="2">
                  <c:v>LinkedIn</c:v>
                </c:pt>
                <c:pt idx="3">
                  <c:v>Instagram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13</c:v>
                </c:pt>
                <c:pt idx="3">
                  <c:v>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 rate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Email</c:v>
                </c:pt>
                <c:pt idx="2">
                  <c:v>LinkedIn</c:v>
                </c:pt>
                <c:pt idx="3">
                  <c:v>Instagram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91</c:v>
                </c:pt>
                <c:pt idx="2">
                  <c:v>87</c:v>
                </c:pt>
                <c:pt idx="3">
                  <c:v>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Rework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Email</c:v>
                </c:pt>
                <c:pt idx="2">
                  <c:v>LinkedIn</c:v>
                </c:pt>
                <c:pt idx="3">
                  <c:v>Instagram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</c:v>
                </c:pt>
                <c:pt idx="1">
                  <c:v>9</c:v>
                </c:pt>
                <c:pt idx="2">
                  <c:v>13</c:v>
                </c:pt>
                <c:pt idx="3">
                  <c:v>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Review</c:v>
                </c:pt>
                <c:pt idx="2">
                  <c:v>Approved</c:v>
                </c:pt>
                <c:pt idx="3">
                  <c:v>Published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48</c:v>
                </c:pt>
                <c:pt idx="2">
                  <c:v>36</c:v>
                </c:pt>
                <c:pt idx="3">
                  <c:v>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 flags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Review</c:v>
                </c:pt>
                <c:pt idx="2">
                  <c:v>Approved</c:v>
                </c:pt>
                <c:pt idx="3">
                  <c:v>Published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14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Review</c:v>
                </c:pt>
                <c:pt idx="2">
                  <c:v>Approved</c:v>
                </c:pt>
                <c:pt idx="3">
                  <c:v>Published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48</c:v>
                </c:pt>
                <c:pt idx="2">
                  <c:v>36</c:v>
                </c:pt>
                <c:pt idx="3">
                  <c:v>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Risk flags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Draft</c:v>
                </c:pt>
                <c:pt idx="1">
                  <c:v>Review</c:v>
                </c:pt>
                <c:pt idx="2">
                  <c:v>Approved</c:v>
                </c:pt>
                <c:pt idx="3">
                  <c:v>Published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14</c:v>
                </c:pt>
                <c:pt idx="2">
                  <c:v>2</c:v>
                </c:pt>
                <c:pt idx="3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1.1</c:v>
                </c:pt>
                <c:pt idx="2">
                  <c:v>1.4</c:v>
                </c:pt>
                <c:pt idx="3">
                  <c:v>1.3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Guardrail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</c:v>
                </c:pt>
                <c:pt idx="1">
                  <c:v>0.95</c:v>
                </c:pt>
                <c:pt idx="2">
                  <c:v>0.92</c:v>
                </c:pt>
                <c:pt idx="3">
                  <c:v>0.96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1.1</c:v>
                </c:pt>
                <c:pt idx="2">
                  <c:v>1.4</c:v>
                </c:pt>
                <c:pt idx="3">
                  <c:v>1.3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Guardrail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W35</c:v>
                </c:pt>
                <c:pt idx="1">
                  <c:v>W36</c:v>
                </c:pt>
                <c:pt idx="2">
                  <c:v>W37</c:v>
                </c:pt>
                <c:pt idx="3">
                  <c:v>W38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</c:v>
                </c:pt>
                <c:pt idx="1">
                  <c:v>0.95</c:v>
                </c:pt>
                <c:pt idx="2">
                  <c:v>0.92</c:v>
                </c:pt>
                <c:pt idx="3">
                  <c:v>0.96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6000</c:v>
                </c:pt>
                <c:pt idx="1">
                  <c:v>1800</c:v>
                </c:pt>
                <c:pt idx="2">
                  <c:v>7200</c:v>
                </c:pt>
                <c:pt idx="3">
                  <c:v>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Gross profit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LinkedIn</c:v>
                </c:pt>
                <c:pt idx="1">
                  <c:v>Email</c:v>
                </c:pt>
                <c:pt idx="2">
                  <c:v>Search</c:v>
                </c:pt>
                <c:pt idx="3">
                  <c:v>Short video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18360</c:v>
                </c:pt>
                <c:pt idx="1">
                  <c:v>22440</c:v>
                </c:pt>
                <c:pt idx="2">
                  <c:v>31008</c:v>
                </c:pt>
                <c:pt idx="3">
                  <c:v>6120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entic-marketing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438912"/>
            <a:ext cx="658368" cy="65836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66928" y="1426464"/>
            <a:ext cx="196596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9659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NON-WSQ 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65960"/>
            <a:ext cx="4800600" cy="1920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Agentic AI for Digital Marketing and Advertising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96512"/>
            <a:ext cx="466344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700" b="0">
                <a:solidFill>
                  <a:srgbClr val="EEE6F0"/>
                </a:solidFill>
                <a:latin typeface="Aptos"/>
              </a:rPr>
              <a:t>n8n automation · SocialPost API · human oversight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74920"/>
            <a:ext cx="475488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Course Code: C1798</a:t>
            </a:r>
          </a:p>
          <a:p>
            <a:r>
              <a:rPr sz="1300" b="1">
                <a:latin typeface="Aptos"/>
              </a:rPr>
              <a:t>2 days · 15 instructional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099048"/>
            <a:ext cx="466344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Version v2.0 · 20 September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221F27"/>
                </a:solidFill>
                <a:latin typeface="Aptos"/>
              </a:rPr>
              <a:t>© 2026 Tertiary Infotech Academy Pte Ltd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65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655F69"/>
                </a:solidFill>
                <a:latin typeface="Aptos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971800" cy="4251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2057400"/>
            <a:ext cx="1463040" cy="1463040"/>
          </a:xfrm>
          <a:prstGeom prst="roundRect">
            <a:avLst/>
          </a:prstGeom>
          <a:solidFill>
            <a:srgbClr val="65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8" y="2331720"/>
            <a:ext cx="146304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26060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200" b="1">
                <a:solidFill>
                  <a:srgbClr val="221F27"/>
                </a:solidFill>
                <a:latin typeface="Aptos"/>
              </a:rPr>
              <a:t>Your Trainer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0">
                <a:solidFill>
                  <a:srgbClr val="655F69"/>
                </a:solidFill>
                <a:latin typeface="Aptos"/>
              </a:rPr>
              <a:t>Template profile to be completed by the trainer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73736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737360"/>
            <a:ext cx="73152" cy="896112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1" y="196596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512B58"/>
                </a:solidFill>
                <a:latin typeface="Aptos"/>
              </a:rPr>
              <a:t>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4999" y="193852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____________________________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78892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2788920"/>
            <a:ext cx="73152" cy="896112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1" y="301752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EF626C"/>
                </a:solidFill>
                <a:latin typeface="Aptos"/>
              </a:rPr>
              <a:t>Industry 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4999" y="299008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____________________________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84048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3840480"/>
            <a:ext cx="73152" cy="89611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1" y="406908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68C8C"/>
                </a:solidFill>
                <a:latin typeface="Aptos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4999" y="404164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____________________________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89204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4892040"/>
            <a:ext cx="73152" cy="896112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1" y="512064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A202"/>
                </a:solidFill>
                <a:latin typeface="Aptos"/>
              </a:rPr>
              <a:t>Relevant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4999" y="509320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____________________________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2971800" cy="4251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35608" y="2057400"/>
            <a:ext cx="1463040" cy="14630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35608" y="2331720"/>
            <a:ext cx="1463040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AA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260604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200" b="1">
                <a:solidFill>
                  <a:srgbClr val="221F27"/>
                </a:solidFill>
                <a:latin typeface="Aptos"/>
              </a:rPr>
              <a:t>Dr Alfred 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572000"/>
            <a:ext cx="2606040" cy="8229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0">
                <a:solidFill>
                  <a:srgbClr val="655F69"/>
                </a:solidFill>
                <a:latin typeface="Aptos"/>
              </a:rPr>
              <a:t>Principal Trainer ·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173736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1737360"/>
            <a:ext cx="73152" cy="896112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33671" y="196596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512B58"/>
                </a:solidFill>
                <a:latin typeface="Aptos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4999" y="193852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Principal trainer and courseware architect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278892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77639" y="2788920"/>
            <a:ext cx="73152" cy="896112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33671" y="301752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EF626C"/>
                </a:solidFill>
                <a:latin typeface="Aptos"/>
              </a:rPr>
              <a:t>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4999" y="299008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AI, automation, cloud and applied digital transformation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39" y="384048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39" y="3840480"/>
            <a:ext cx="73152" cy="896112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1" y="406908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168C8C"/>
                </a:solidFill>
                <a:latin typeface="Aptos"/>
              </a:rPr>
              <a:t>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4999" y="404164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Mechanism-led training with auditable hands-on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77639" y="4892040"/>
            <a:ext cx="7452360" cy="89611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977639" y="4892040"/>
            <a:ext cx="73152" cy="896112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1" y="5120640"/>
            <a:ext cx="141732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A202"/>
                </a:solidFill>
                <a:latin typeface="Aptos"/>
              </a:rPr>
              <a:t>Practice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4999" y="5093208"/>
            <a:ext cx="548640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221F27"/>
                </a:solidFill>
                <a:latin typeface="Aptos"/>
              </a:rPr>
              <a:t>Human-supervised agent systems and responsible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ICEBREAKER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Let's Know Each Other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What marketing decision do you own?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Current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Which channels and systems do you use?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What repetitive work should n8n coordinate?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What must never publish without human review?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Participate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Ask, test and explain your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Respect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One conversation at a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Privacy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only synthetic data and sandbox accounts.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Keep live publisher nodes disabled until authorised.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VISUAL DOWNLOAD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Download Course Material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Open 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lms-tms.tertiaryinfotech.com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Select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C1798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Open material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slides, guide and labs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Download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keep folder structure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EF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EF626C"/>
                </a:solidFill>
                <a:latin typeface="Aptos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JSON + Excel per lab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Use the Learner Guide for detailed procedures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15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Course Schedule — 2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Day 1 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Research intelligence and campaign inputs.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Day 1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Strategy, KPI/ROI and content contracts.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Day 2 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Human oversight and publishing.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Day 2 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Analytics, ROI and optimisation.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REFERENCE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End-to-End Marketing Operating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verified evidence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RACE/SOSTAC + KPI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Create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channel assets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approval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Publish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dry-run or authorised live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Measure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events, ROI, learning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transition writes lineage to the run ledger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Human Oversight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An agent can generate, score and recommend—but must not approve its own output, expand scope or mutate a live budget.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n8n pauses consequential branches, binds approval to a payload hash, records the reviewer and routes changed payloads back to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search-intelligence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57200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Research Intelligence &amp; Campaign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EEE6F0"/>
                </a:solidFill>
                <a:latin typeface="Aptos"/>
              </a:rPr>
              <a:t>Evidence collection · source quality · audience signals · opportunity scoring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39319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Architecture · runtime · contract · controls · evidence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Research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structured brief defines market, audience, decision, constraints and evidence threshold.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Evidence lineage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Every insight retains source URL, retrieval time, publisher, claim and confidence.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Signal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Relevance × reliability × recency produces an auditable priority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Audience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Jobs, pains, triggers and objections are derived from evidence—not invented personas.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Agent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n8n orchestrates tools and state; a human owns research acceptance and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01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Data minimisation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Collect only fields required for a marketing decision; exclude sensitive personal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01 — worked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Reliability and recency are separate; fresh does not always mean trustworthy.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01 — trend and decision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Read direction, volume and guardrails together; record what would change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RESEARCH INTELLIGENCE &amp; CAMPAIGN INPUTS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01 — Control-Plane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schedule or approved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versioned campaign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bounded analysis or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ledger and measurable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owns orchestration; humans own consequential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01 —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5661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Two plausible signals support different actions; one has stronger lineage and lower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73152" cy="35661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Prefer reproducible evidence, explicit assumptions and reversibility. Escalate unclear authority or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73152" cy="35661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Record chosen input, rejected alternative, owner, threshold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01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01 — Campaign Brief Intake &amp; KPI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validated campaign object with objectives, KPI contracts, owners and guardrails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data/campaign_brief.xlsx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Output contains campaign_id CMP-NS-001, at least three KPI contracts, one owner per KPI and a human-review flag.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Brief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Validate Required Fields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Build KPI Contract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Needs Review?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Output Contract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campaign_id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audience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budget_sgd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start_date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end_date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owner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risk_tier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brief_completeness = populated_required_fields /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brief_completeness = populated_required_fields / 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Missing owner or budget can cause unbounded spend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campaign_id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Required Fields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Needs Review?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validated campaign object with objectives, KPI contracts, owners and guardrails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Output contains campaign_id CMP-NS-001, at least three KPI contracts, one owner per KPI and a human-review flag.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Missing owner or budget can cause unbounded spend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Output contains campaign_id CMP-NS-001, at least three KPI contracts, one owner per KPI and a human-review flag.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01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02 — Evidence Research &amp; Source Scoring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2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research evidence table with claim, source, recency, reliability and composite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data/research_sources.xlsx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Every accepted claim retains source_id, URL, published date and evidence_score; no rejected row reaches synthesis.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Research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Normalise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Score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Confidence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Accepted 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source_id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publisher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url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published_date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claim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relevance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reliability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recency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evidence_score = relevance × reliability × recency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evidence_score = relevance × reliability × recency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Low-quality sources can contaminate every downstream asset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source_id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Normalise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Accepted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research evidence table with claim, source, recency, reliability and composite 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accepted claim retains source_id, URL, published date and evidence_score; no rejected row reaches synthesis.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Low-quality sources can contaminate every downstream asset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Every accepted claim retains source_id, URL, published date and evidence_score; no rejected row reaches synthesis.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37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2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01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03 — Audience Signal Synthesis &amp; Opportunity Ranking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3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Ranked audience opportunities linked to evidence 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data/audience_signals.xlsx · 9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Every opportunity has evidence_ids, an ICE score and explicit supported status before strategy synthesis.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Audience Signals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Validate Evidence Links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Compute ICE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Rank Opportunities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Human Sense-check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signal_id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segment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job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trigger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evidence_ids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impact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confidence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ICE = impact × confidence /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ICE = impact × confidence / effort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AI-generated personas may encode stereotypes or unsupported claims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44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signal_id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Evidence Links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Human Sense-check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Ranked audience opportunities linked to evidence IDs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opportunity has evidence_ids, an ICE score and explicit supported status before strategy synthesis.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AI-generated personas may encode stereotypes or unsupported claims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Every opportunity has evidence_ids, an ICE score and explicit supported status before strategy synthesis.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46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3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02-strategy-photo-v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57200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Strategy, KPIs &amp; ROI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EEE6F0"/>
                </a:solidFill>
                <a:latin typeface="Aptos"/>
              </a:rPr>
              <a:t>RACE/SOSTAC · objectives · channel economics · budget decisions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39319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LO1–LO2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Architecture · runtime · contract · controls · evidence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Objective tree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Business outcome → marketing objective → channel KPI → event and owner.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49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KPI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Name, formula, source, cadence, target, guardrail and action threshold.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50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Unit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CAC, LTV, contribution margin, ROAS and incremental ROI expose trade-offs.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51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Attribution limits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Last-click is observable but not causal; triangulate with experiments and holdouts.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52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Budget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Reallocate only when volume, confidence and guardrails exceed declared thresholds.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53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02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Strategy synthesis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RACE describes the journey; SOSTAC governs planning and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54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02 — worked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Observed ROAS is not sufficient when confidence and assisted demand differ.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55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02 — trend and decision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Read direction, volume and guardrails together; record what would change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56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STRATEGY, KPIS &amp; ROI MODELS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02 — Control-Plane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schedule or approved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versioned campaign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bounded analysis or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ledger and measurable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owns orchestration; humans own consequential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57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02 —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5661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Two plausible signals support different actions; one has stronger lineage and lower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73152" cy="35661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Prefer reproducible evidence, explicit assumptions and reversibility. Escalate unclear authority or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73152" cy="35661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Record chosen input, rejected alternative, owner, threshold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58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02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04 — RACE/SOSTAC Strategy Synthesizer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4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strategy model connecting situation, objectives, audience, channels, tactics, actions and control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data/strategy_model.xlsx · 7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All strategy decisions trace to evidence, map to RACE, include control fields and pass human strategy review.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59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Approved Opportunities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Build RACE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Build SOSTAC 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Alignment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Strategy 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60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decision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kpi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target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review_date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61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62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alignment_rate = decisions_with_objective_and_owner / total_decisions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alignment_rate = decisions_with_objective_and_owner / total_decisions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63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Channel tactics can drift from the business objective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64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RACE Map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Strategy Draft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strategy model connecting situation, objectives, audience, channels, tactics, actions and 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All strategy decisions trace to evidence, map to RACE, include control fields and pass human strategy review.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65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Channel tactics can drift from the business objective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All strategy decisions trace to evidence, map to RACE, include control fields and pass human strategy review.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66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4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67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02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05 — Channel Budget &amp; ROI Simulator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5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scenario model for CAC, ROAS, contribution margin and incremental ROI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data/channel_economics.xlsx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Calculated metrics match Excel formulas, low-volume scenarios are flagged and no allocation proceeds without reviewer_decision.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68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Channel Scenarios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Calculate Economics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Volume Guardrail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Rank Scenarios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Finance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69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spend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impressions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clicks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leads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customers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revenue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gross_margin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70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71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CAC = spend/customers; ROAS = revenue/spend; ROI = (revenue×margin−spend)/spend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CAC = spend/customers; ROAS = revenue/spend; ROI = (revenue×margin−spend)/spend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72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Optimising ROAS alone may cut channels that create assisted demand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73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Calculate Economics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Finance Review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scenario model for CAC, ROAS, contribution margin and incremental ROI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Calculated metrics match Excel formulas, low-volume scenarios are flagged and no allocation proceeds without reviewer_decision.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74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Optimising ROAS alone may cut channels that create assisted demand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Calculated metrics match Excel formulas, low-volume scenarios are flagged and no allocation proceeds without reviewer_decision.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75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5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76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02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06 — Campaign Backlog &amp; Experiment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6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prioritised backlog with hypotheses, variants, sample thresholds and stop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data/campaign_backlog.xlsx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Each ready item has one falsifiable hypothesis, primary metric, minimum sample, stop rule and accountable owner.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77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Strategy Decisions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Create Work 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Validate Experiment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Prioritise Backlog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Owner Review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78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item_id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hypothesis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primary_metric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minimum_sample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stop_rule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owner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status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79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80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priority = expected_impact × confidence /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priority = expected_impact × confidence / effort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81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Automated testing without stop rules can expose audiences to harmful variants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82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item_id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Create Work Items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Owner Review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prioritised backlog with hypotheses, variants, sample thresholds and stop rules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Each ready item has one falsifiable hypothesis, primary metric, minimum sample, stop rule and accountable owner.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83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Automated testing without stop rules can expose audiences to harmful variants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Each ready item has one falsifiable hypothesis, primary metric, minimum sample, stop rule and accountable owner.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84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6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85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03-content-ops-photo-v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57200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Agentic Content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EEE6F0"/>
                </a:solidFill>
                <a:latin typeface="Aptos"/>
              </a:rPr>
              <a:t>Brief contracts · generation · brand controls · reusable channel transformations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39319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Architecture · runtime · contract · controls · evidence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Content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One canonical brief becomes channel-specific outputs through explicit schemas.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87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Prompt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System rules, evidence context, task, format and rejection conditions are separated.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88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Brand retrieval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Approved claims, tone rules and prohibited language are fetched before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89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Channel transform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same message is adapted to intent, format, length and CTA—not copied verbatim.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90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Quality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Schema, claim, tone, privacy and accessibility checks run before human review.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91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03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Idempotency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campaign-content key prevents duplicate generation when workflows retry.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92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03 — worked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Channel-specific transforms reduce rework.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93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03 — trend and decision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Read direction, volume and guardrails together; record what would change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94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AGENTIC CONTENT OPERATIONS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03 — Control-Plane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schedule or approved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versioned campaign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bounded analysis or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ledger and measurable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owns orchestration; humans own consequential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95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03 —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5661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Two plausible signals support different actions; one has stronger lineage and lower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73152" cy="35661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Prefer reproducible evidence, explicit assumptions and reversibility. Escalate unclear authority or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73152" cy="35661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Record chosen input, rejected alternative, owner, threshold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96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03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07 — Content Brief &amp; Prompt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7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versioned JSON content contract suitable for deterministic channel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data/content_brief.xlsx · 9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approved contract includes evidence IDs, approved claims, prohibited terms, CTA, version and contract hash.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97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Approved Backlog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Assemble Brief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Schema Validator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Claim 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Prompt Contract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98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brief_id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campaign_id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audience_job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message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approved_claims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evidence_ids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tone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cta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99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100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contract_valid = required_fields_present AND evidence_ids_resolved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contract_valid = required_fields_present AND evidence_ids_resolved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101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Unbounded prompts can invent claims or leak confidential context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102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brief_id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Assemble Brief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Prompt 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versioned JSON content contract suitable for deterministic channel generation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The approved contract includes evidence IDs, approved claims, prohibited terms, CTA, version and contract hash.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103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Unbounded prompts can invent claims or leak confidential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The approved contract includes evidence IDs, approved claims, prohibited terms, CTA, version and contract hash.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104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7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105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03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08 — Multi-Channel Content Factory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8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Website, email and SocialPost text/photo/video drafts with shared message lineage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data/content_matrix.xlsx · 14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One approved brief produces distinct channel assets; every social asset is endpoint-ready and retains brief_id, evidence_ids and validation status.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106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Approved 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Generate Canonical Copy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Split Channels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Apply Channel Rules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Channel Fit?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107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asset_id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brief_id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evidence_ids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media_type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title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description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caption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108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109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channel_fit = passed_length AND required_fields AND approved_claims_only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channel_fit = passed_length AND required_fields AND approved_claims_only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110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Copying identical text across channels ignores audience intent and platform constraints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111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asset_id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Generate Canonical Copy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Content Queue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Website, email and SocialPost text/photo/video drafts with shared message lineage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One approved brief produces distinct channel assets; every social asset is endpoint-ready and retains brief_id, evidence_ids and validation status.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112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Copying identical text across channels ignores audience intent and platform constraints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One approved brief produces distinct channel assets; every social asset is endpoint-ready and retains brief_id, evidence_ids and validation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113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8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114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03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09 — Brand, Claim &amp; Compliance QA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9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QA report covering schema, brand, claims, privacy, accessibility and channel limits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data/brand_rules.xlsx · 6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No high-severity asset reaches approval; every medium-risk finding has category, evidence, owner and disposition.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115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Draft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Load Brand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Run Deterministic Checks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Risk 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Pass Queue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116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rule_id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pattern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severity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owner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117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118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qa_pass_rate = passed_rules / applicable_rules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qa_pass_rate = passed_rules / applicable_rules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119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An AI self-review can miss the same hallucination made during generation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120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rule_id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Load Brand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Review Queue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QA report covering schema, brand, claims, privacy, accessibility and channel limits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high-severity asset reaches approval; every medium-risk finding has category, evidence, owner and disposition.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121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An AI self-review can miss the same hallucination made during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No high-severity asset reaches approval; every medium-risk finding has category, evidence, owner and disposition.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122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9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123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04-socialpost-approval-photo-v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57200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Human Oversight &amp; Omnichannel Publishing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EEE6F0"/>
                </a:solidFill>
                <a:latin typeface="Aptos"/>
              </a:rPr>
              <a:t>Approval states · SocialPost API · scheduling · idempotency · audit trail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39319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Architecture · runtime · contract · controls · evidence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DRAFT → REVIEW → APPROVED/REJECTED → SCHEDULED → PUBLISHED → MEASURED.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125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Human-in-the-loop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High-impact tool calls pause until an accountable reviewer approves the exact payload.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126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Separation of duties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authoring agent cannot self-approve or silently expand channel scope.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127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SocialPost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n8n selects /api/upload, /api/upload_photos or /api/upload_text, then sends approved multipart fields with an Apikey credential.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128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Retry only transient errors; dead-letter permanent failures with evidence and owner.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129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04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Auditability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version, payload hash and publication response.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130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04 — worked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funnel removes or remediates risk before publication.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131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04 — trend and decision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Read direction, volume and guardrails together; record what would change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132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HUMAN OVERSIGHT &amp; OMNICHANNEL PUBLISHING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04 — Control-Plane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schedule or approved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versioned campaign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bounded analysis or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ledger and measurable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owns orchestration; humans own consequential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133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04 —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5661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Two plausible signals support different actions; one has stronger lineage and lower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73152" cy="35661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Prefer reproducible evidence, explicit assumptions and reversibility. Escalate unclear authority or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73152" cy="35661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Record chosen input, rejected alternative, owner, threshold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134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LIVE CONTRACT · VERIFIED 29 AUG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SocialPost API — Endpoint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401568" cy="34290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4290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49424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TEXT 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49424" cy="2514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POST /api/upload_text
user · platform[] · title · caption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5" y="1783080"/>
            <a:ext cx="3401568" cy="34290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34255" y="1783080"/>
            <a:ext cx="73152" cy="34290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62855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6943" y="2002536"/>
            <a:ext cx="2249424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PHOTO ALBUM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3" y="2514600"/>
            <a:ext cx="2249424" cy="2514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POST /api/upload_photos
photos[] · user · platform[] · title · description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0142" y="1783080"/>
            <a:ext cx="3401568" cy="34290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10142" y="1783080"/>
            <a:ext cx="73152" cy="34290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38742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42830" y="2002536"/>
            <a:ext cx="2249424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0" y="2514600"/>
            <a:ext cx="2249424" cy="2514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POST /api/upload
video · title · user · platform[]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5559552"/>
            <a:ext cx="854964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0" y="5577840"/>
            <a:ext cx="85496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chooses the endpoint from media_type; it never changes media type after approval.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socialmediapost.tertiaryinfotech.com · public API examples observed 29 Aug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135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HTTP REQUEST NODE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n8n → SocialPost — Multipart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6537960" cy="420624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29968"/>
            <a:ext cx="5989320" cy="361188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DCEBF5"/>
                </a:solidFill>
                <a:latin typeface="Aptos Mono"/>
              </a:rPr>
              <a:t>POST https://socialmediapost.tertiaryinfotech.com/api/upload_text
Authorization: Apikey &lt;n8n Header Auth credential&gt;
Content-Type: multipart/form-data
user        = {{$json.user}}
platform[]  = {{$json.platform}}
title       = {{$json.title}}
caption     = {{$json.caption}}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755648"/>
            <a:ext cx="4069080" cy="117043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52360" y="1755648"/>
            <a:ext cx="73152" cy="1170432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0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048" y="1975104"/>
            <a:ext cx="2916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Credential 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2487168"/>
            <a:ext cx="29169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the full Apikey header value only in n8n Credentials.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3072384"/>
            <a:ext cx="4069080" cy="117043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3072384"/>
            <a:ext cx="73152" cy="1170432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0" y="3310128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0" y="3328416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5048" y="3291840"/>
            <a:ext cx="2916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Approval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3803904"/>
            <a:ext cx="29169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Hash endpoint, user, platform, title and caption before review.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4389120"/>
            <a:ext cx="4069080" cy="1170432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52360" y="4389120"/>
            <a:ext cx="73152" cy="1170432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680960" y="462686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464515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4608576"/>
            <a:ext cx="2916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Execution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5120640"/>
            <a:ext cx="2916936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supplied live node is disabled; dry-run inspection sends nothing.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11 workflow.json · SocialPost public API contract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136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PER-PLATFORM RESULT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SocialPost — Evidence and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publish_id + approval_id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SEND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one approved endpoint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HTTP status + raw response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per-platform outcome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RECOVER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retry transient; dead-letter permanent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600200" y="5376672"/>
            <a:ext cx="900684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600200" y="5394960"/>
            <a:ext cx="900684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Do not invent response fields: retain the raw response first, then map only observed keys.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11 publication ledger · no undocumented analytics endpoint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137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04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Human Approval State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10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An approval request, tamper-evident decision record and state transition bound to endpoint, user and platforms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data/approval_queue.xlsx · 13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Only APPROVED records with a matching SocialPost payload hash proceed; rejected, retargeted or changed payloads cannot publish.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138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QA-Passed Assets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Create Approval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Send Approval Request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Wait for Decision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Verify Payload Hash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139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approval_id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asset_id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api_path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platforms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title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caption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decision_hash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140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141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approval_integrity = decision_hash == current_payload_hash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approval_integrity = decision_hash == current_payload_hash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142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reviewer may approve one version while a changed payload is later published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143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approval_id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Create Approval Record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Rejected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An approval request, tamper-evident decision record and state transition bound to endpoint, user and platforms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Only APPROVED records with a matching SocialPost payload hash proceed; rejected, retargeted or changed payloads cannot publish.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144</a:t>
            </a:r>
          </a:p>
        </p:txBody>
      </p:sp>
    </p:spTree>
  </p:cSld>
  <p:clrMapOvr>
    <a:masterClrMapping/>
  </p:clrMapOvr>
  <p:transition spd="fast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 reviewer may approve one version while a changed payload is later published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Only APPROVED records with a matching SocialPost payload hash proceed; rejected, retargeted or changed payloads cannot publish.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145</a:t>
            </a:r>
          </a:p>
        </p:txBody>
      </p:sp>
    </p:spTree>
  </p:cSld>
  <p:clrMapOvr>
    <a:masterClrMapping/>
  </p:clrMapOvr>
  <p:transition spd="fast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10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146</a:t>
            </a:r>
          </a:p>
        </p:txBody>
      </p:sp>
    </p:spTree>
  </p:cSld>
  <p:clrMapOvr>
    <a:masterClrMapping/>
  </p:clrMapOvr>
  <p:transition spd="fast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04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SocialPost API Publishing &amp; Idempotency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11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Validated SocialPost multipart request; live HTTP node disabled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data/publishing_queue.xlsx · 18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inspected request uses the documented SocialPost endpoint and Apikey credential pattern, remains approval-linked and idempotent, and sends nothing unless the trainer explicitly enables the sandbox node.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147</a:t>
            </a:r>
          </a:p>
        </p:txBody>
      </p:sp>
    </p:spTree>
  </p:cSld>
  <p:clrMapOvr>
    <a:masterClrMapping/>
  </p:clrMapOvr>
  <p:transition spd="fast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Sub-workflow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Approved Social Asset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Build SocialPost Form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Credential Check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Idempotency Store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148</a:t>
            </a:r>
          </a:p>
        </p:txBody>
      </p:sp>
    </p:spTree>
  </p:cSld>
  <p:clrMapOvr>
    <a:masterClrMapping/>
  </p:clrMapOvr>
  <p:transition spd="fast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publish_id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asset_id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media_type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api_path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user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platforms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title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description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149</a:t>
            </a:r>
          </a:p>
        </p:txBody>
      </p:sp>
    </p:spTree>
  </p:cSld>
  <p:clrMapOvr>
    <a:masterClrMapping/>
  </p:clrMapOvr>
  <p:transition spd="fast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150</a:t>
            </a:r>
          </a:p>
        </p:txBody>
      </p:sp>
    </p:spTree>
  </p:cSld>
  <p:clrMapOvr>
    <a:masterClrMapping/>
  </p:clrMapOvr>
  <p:transition spd="fast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duplicate_rate = duplicate_attempts / publish_attempts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duplicate_rate = duplicate_attempts / publish_attempts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151</a:t>
            </a:r>
          </a:p>
        </p:txBody>
      </p:sp>
    </p:spTree>
  </p:cSld>
  <p:clrMapOvr>
    <a:masterClrMapping/>
  </p:clrMapOvr>
  <p:transition spd="fast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Retries can publish the same approved content more than once or to an unapproved SocialPost profile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152</a:t>
            </a:r>
          </a:p>
        </p:txBody>
      </p:sp>
    </p:spTree>
  </p:cSld>
  <p:clrMapOvr>
    <a:masterClrMapping/>
  </p:clrMapOvr>
  <p:transition spd="fast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publish_id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Approved Social Asset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Publication 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Validated SocialPost multipart request; live HTTP node disabled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The inspected request uses the documented SocialPost endpoint and Apikey credential pattern, remains approval-linked and idempotent, and sends nothing unless the trainer explicitly enables the sandbox node.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153</a:t>
            </a:r>
          </a:p>
        </p:txBody>
      </p:sp>
    </p:spTree>
  </p:cSld>
  <p:clrMapOvr>
    <a:masterClrMapping/>
  </p:clrMapOvr>
  <p:transition spd="fast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Retries can publish the same approved content more than once or to an unapproved SocialPost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The inspected request uses the documented SocialPost endpoint and Apikey credential pattern, remains approval-linked and idempotent, and sends nothing unless the trainer explicitly enables the sandbox node.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154</a:t>
            </a:r>
          </a:p>
        </p:txBody>
      </p:sp>
    </p:spTree>
  </p:cSld>
  <p:clrMapOvr>
    <a:masterClrMapping/>
  </p:clrMapOvr>
  <p:transition spd="fast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11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155</a:t>
            </a:r>
          </a:p>
        </p:txBody>
      </p:sp>
    </p:spTree>
  </p:cSld>
  <p:clrMapOvr>
    <a:masterClrMapping/>
  </p:clrMapOvr>
  <p:transition spd="fast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04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End-to-End Campaign Orchestrator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12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parent workflow that calls each stage, records state and stops safely on failure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data/orchestrator_runs.xlsx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successful run reaches SOCIALPOST_REQUEST_INSPECTED only after research, strategy, content, QA and approval succeed; failures stop downstream execution.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156</a:t>
            </a:r>
          </a:p>
        </p:txBody>
      </p:sp>
    </p:spTree>
  </p:cSld>
  <p:clrMapOvr>
    <a:masterClrMapping/>
  </p:clrMapOvr>
  <p:transition spd="fast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Campaign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Research Sub-workflow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Research Passed?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Strategy Sub-workflow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Strategy Passed?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157</a:t>
            </a:r>
          </a:p>
        </p:txBody>
      </p:sp>
    </p:spTree>
  </p:cSld>
  <p:clrMapOvr>
    <a:masterClrMapping/>
  </p:clrMapOvr>
  <p:transition spd="fast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run_id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campaign_id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started_at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ended_at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evidence_uri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error_code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158</a:t>
            </a:r>
          </a:p>
        </p:txBody>
      </p:sp>
    </p:spTree>
  </p:cSld>
  <p:clrMapOvr>
    <a:masterClrMapping/>
  </p:clrMapOvr>
  <p:transition spd="fast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159</a:t>
            </a:r>
          </a:p>
        </p:txBody>
      </p:sp>
    </p:spTree>
  </p:cSld>
  <p:clrMapOvr>
    <a:masterClrMapping/>
  </p:clrMapOvr>
  <p:transition spd="fast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stage_success_rate = successful_stages / attempted_stages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stage_success_rate = successful_stages / attempted_stages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160</a:t>
            </a:r>
          </a:p>
        </p:txBody>
      </p:sp>
    </p:spTree>
  </p:cSld>
  <p:clrMapOvr>
    <a:masterClrMapping/>
  </p:clrMapOvr>
  <p:transition spd="fast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parent agent may continue after a failed or unapproved stage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161</a:t>
            </a:r>
          </a:p>
        </p:txBody>
      </p:sp>
    </p:spTree>
  </p:cSld>
  <p:clrMapOvr>
    <a:masterClrMapping/>
  </p:clrMapOvr>
  <p:transition spd="fast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run_id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Research Sub-workflow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Run Ledger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parent workflow that calls each stage, records state and stops safely on failure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 successful run reaches SOCIALPOST_REQUEST_INSPECTED only after research, strategy, content, QA and approval succeed; failures stop downstream execution.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162</a:t>
            </a:r>
          </a:p>
        </p:txBody>
      </p:sp>
    </p:spTree>
  </p:cSld>
  <p:clrMapOvr>
    <a:masterClrMapping/>
  </p:clrMapOvr>
  <p:transition spd="fast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 parent agent may continue after a failed or unapproved stage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A successful run reaches SOCIALPOST_REQUEST_INSPECTED only after research, strategy, content, QA and approval succeed; failures stop downstream execution.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163</a:t>
            </a:r>
          </a:p>
        </p:txBody>
      </p:sp>
    </p:spTree>
  </p:cSld>
  <p:clrMapOvr>
    <a:masterClrMapping/>
  </p:clrMapOvr>
  <p:transition spd="fast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12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164</a:t>
            </a:r>
          </a:p>
        </p:txBody>
      </p:sp>
    </p:spTree>
  </p:cSld>
  <p:clrMapOvr>
    <a:masterClrMapping/>
  </p:clrMapOvr>
  <p:transition spd="fast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05-analytics-photo-v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182880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TOPIC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57200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Performance Analytics &amp; Optimisation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611880"/>
            <a:ext cx="448056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0">
                <a:solidFill>
                  <a:srgbClr val="EEE6F0"/>
                </a:solidFill>
                <a:latin typeface="Aptos"/>
              </a:rPr>
              <a:t>Event ingestion · attribution · ROI · anomaly detection · controlled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800600"/>
            <a:ext cx="39319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4818888"/>
            <a:ext cx="3931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LO2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89320"/>
            <a:ext cx="46634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Aptos"/>
              </a:rPr>
              <a:t>Architecture · runtime · contract · controls · evidence</a:t>
            </a:r>
          </a:p>
        </p:txBody>
      </p:sp>
    </p:spTree>
  </p:cSld>
  <p:clrMapOvr>
    <a:masterClrMapping/>
  </p:clrMapOvr>
  <p:transition spd="fast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Event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campaign_id, channel, event, value, cost and timestamp join delivery to outcomes.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166</a:t>
            </a:r>
          </a:p>
        </p:txBody>
      </p:sp>
    </p:spTree>
  </p:cSld>
  <p:clrMapOvr>
    <a:masterClrMapping/>
  </p:clrMapOvr>
  <p:transition spd="fast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Metric grain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Calculate at campaign × channel × period before rolling up totals.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167</a:t>
            </a:r>
          </a:p>
        </p:txBody>
      </p:sp>
    </p:spTree>
  </p:cSld>
  <p:clrMapOvr>
    <a:masterClrMapping/>
  </p:clrMapOvr>
  <p:transition spd="fast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Incrementality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Optimisation recommendations distinguish correlation from controlled lift.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168</a:t>
            </a:r>
          </a:p>
        </p:txBody>
      </p:sp>
    </p:spTree>
  </p:cSld>
  <p:clrMapOvr>
    <a:masterClrMapping/>
  </p:clrMapOvr>
  <p:transition spd="fast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Guardrails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CPA, frequency, unsubscribe rate and brand-risk thresholds can override ROAS.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169</a:t>
            </a:r>
          </a:p>
        </p:txBody>
      </p:sp>
    </p:spTree>
  </p:cSld>
  <p:clrMapOvr>
    <a:masterClrMapping/>
  </p:clrMapOvr>
  <p:transition spd="fast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Drift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Schema, volume and conversion-rate changes trigger investigation—not automatic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170</a:t>
            </a:r>
          </a:p>
        </p:txBody>
      </p:sp>
    </p:spTree>
  </p:cSld>
  <p:clrMapOvr>
    <a:masterClrMapping/>
  </p:clrMapOvr>
  <p:transition spd="fast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TOPIC 05 · TECHNICAL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Learning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Evidence proposes a change; a human approves; the next experiment measures impact.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6552" y="1783080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2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Concrete contract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Named fields, owner, timestamp, version and acceptance status make this mechanism testable.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1783080"/>
            <a:ext cx="333756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1783080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94192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002536"/>
            <a:ext cx="21854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Failure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514600"/>
            <a:ext cx="218541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Reject missing lineage, ambiguous ownership or state transitions that exceed delegated authority.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94560" y="5632704"/>
            <a:ext cx="78181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5650992"/>
            <a:ext cx="78181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Practice bridge: inspect the Excel contract and n8n execution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171</a:t>
            </a:r>
          </a:p>
        </p:txBody>
      </p:sp>
    </p:spTree>
  </p:cSld>
  <p:clrMapOvr>
    <a:masterClrMapping/>
  </p:clrMapOvr>
  <p:transition spd="fast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05 — worked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Optimisation considers return and guardrail health; one spike is not causal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172</a:t>
            </a:r>
          </a:p>
        </p:txBody>
      </p:sp>
    </p:spTree>
  </p:cSld>
  <p:clrMapOvr>
    <a:masterClrMapping/>
  </p:clrMapOvr>
  <p:transition spd="fast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EDITABLE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05 — trend and decision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Read direction, volume and guardrails together; record what would change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173</a:t>
            </a:r>
          </a:p>
        </p:txBody>
      </p:sp>
    </p:spTree>
  </p:cSld>
  <p:clrMapOvr>
    <a:masterClrMapping/>
  </p:clrMapOvr>
  <p:transition spd="fast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PERFORMANCE ANALYTICS &amp; OPTIMISATION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05 — Control-Plane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schedule or approved work item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versioned campaign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bounded analysis or generation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policy + human decision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Evidence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ledger and measurable outcome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n8n owns orchestration; humans own consequential decisions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174</a:t>
            </a:r>
          </a:p>
        </p:txBody>
      </p:sp>
    </p:spTree>
  </p:cSld>
  <p:clrMapOvr>
    <a:masterClrMapping/>
  </p:clrMapOvr>
  <p:transition spd="fast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DECISION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Topic 05 — Control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3152" cy="35661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2082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 conflict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Two plausible signals support different actions; one has stronger lineage and lower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73152" cy="35661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02082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Decision rule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Prefer reproducible evidence, explicit assumptions and reversibility. Escalate unclear authority or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83080"/>
            <a:ext cx="3383280" cy="35661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83080"/>
            <a:ext cx="73152" cy="35661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202082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3911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2002536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514600"/>
            <a:ext cx="2231136" cy="2651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Record chosen input, rejected alternative, owner, threshold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175</a:t>
            </a:r>
          </a:p>
        </p:txBody>
      </p:sp>
    </p:spTree>
  </p:cSld>
  <p:clrMapOvr>
    <a:masterClrMapping/>
  </p:clrMapOvr>
  <p:transition spd="fast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05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Performance Event Ingestion &amp;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13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deduplicated fact table joined by campaign, asset, channel and event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data/performance_events.xlsx · 9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All facts have unique event_id, valid campaign_id, normalised time and an explicit attribution rule or quarantine reason.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176</a:t>
            </a:r>
          </a:p>
        </p:txBody>
      </p:sp>
    </p:spTree>
  </p:cSld>
  <p:clrMapOvr>
    <a:masterClrMapping/>
  </p:clrMapOvr>
  <p:transition spd="fast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Mock Channel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Normalise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Deduplicate Event IDs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Valid Event?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Join Campaign 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177</a:t>
            </a:r>
          </a:p>
        </p:txBody>
      </p:sp>
    </p:spTree>
  </p:cSld>
  <p:clrMapOvr>
    <a:masterClrMapping/>
  </p:clrMapOvr>
  <p:transition spd="fast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event_id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campaign_id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asset_id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event_time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value_sgd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cost_sgd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178</a:t>
            </a:r>
          </a:p>
        </p:txBody>
      </p:sp>
    </p:spTree>
  </p:cSld>
  <p:clrMapOvr>
    <a:masterClrMapping/>
  </p:clrMapOvr>
  <p:transition spd="fast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179</a:t>
            </a:r>
          </a:p>
        </p:txBody>
      </p:sp>
    </p:spTree>
  </p:cSld>
  <p:clrMapOvr>
    <a:masterClrMapping/>
  </p:clrMapOvr>
  <p:transition spd="fast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data_quality = valid_unique_events / received_events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data_quality = valid_unique_events / received_events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180</a:t>
            </a:r>
          </a:p>
        </p:txBody>
      </p:sp>
    </p:spTree>
  </p:cSld>
  <p:clrMapOvr>
    <a:masterClrMapping/>
  </p:clrMapOvr>
  <p:transition spd="fast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Inconsistent IDs and time zones can misattribute outcomes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181</a:t>
            </a:r>
          </a:p>
        </p:txBody>
      </p:sp>
    </p:spTree>
  </p:cSld>
  <p:clrMapOvr>
    <a:masterClrMapping/>
  </p:clrMapOvr>
  <p:transition spd="fast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event_id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Normalise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Performance Facts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deduplicated fact table joined by campaign, asset, channel and event time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All facts have unique event_id, valid campaign_id, normalised time and an explicit attribution rule or quarantine reason.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182</a:t>
            </a:r>
          </a:p>
        </p:txBody>
      </p:sp>
    </p:spTree>
  </p:cSld>
  <p:clrMapOvr>
    <a:masterClrMapping/>
  </p:clrMapOvr>
  <p:transition spd="fast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Inconsistent IDs and time zones can misattribute outcomes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All facts have unique event_id, valid campaign_id, normalised time and an explicit attribution rule or quarantine reason.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183</a:t>
            </a:r>
          </a:p>
        </p:txBody>
      </p:sp>
    </p:spTree>
  </p:cSld>
  <p:clrMapOvr>
    <a:masterClrMapping/>
  </p:clrMapOvr>
  <p:transition spd="fast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13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184</a:t>
            </a:r>
          </a:p>
        </p:txBody>
      </p:sp>
    </p:spTree>
  </p:cSld>
  <p:clrMapOvr>
    <a:masterClrMapping/>
  </p:clrMapOvr>
  <p:transition spd="fast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05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ROI Dashboard &amp; Anomaly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14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channel-period metric table with CAC, ROAS, ROI, confidence and anomaly flags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data/roi_dashboard.xlsx · 8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Dashboard metrics match the formulas; anomalies include volume, baseline, guardrail status and analyst decision.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185</a:t>
            </a:r>
          </a:p>
        </p:txBody>
      </p:sp>
    </p:spTree>
  </p:cSld>
  <p:clrMapOvr>
    <a:masterClrMapping/>
  </p:clrMapOvr>
  <p:transition spd="fast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Manual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Performance 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Aggregate Channel-Period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Calculate ROI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Compare Baseline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Guardrail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186</a:t>
            </a:r>
          </a:p>
        </p:txBody>
      </p:sp>
    </p:spTree>
  </p:cSld>
  <p:clrMapOvr>
    <a:masterClrMapping/>
  </p:clrMapOvr>
  <p:transition spd="fast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period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channel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spend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revenue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gross_margin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baseline_cv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current_cv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187</a:t>
            </a:r>
          </a:p>
        </p:txBody>
      </p:sp>
    </p:spTree>
  </p:cSld>
  <p:clrMapOvr>
    <a:masterClrMapping/>
  </p:clrMapOvr>
  <p:transition spd="fast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188</a:t>
            </a:r>
          </a:p>
        </p:txBody>
      </p:sp>
    </p:spTree>
  </p:cSld>
  <p:clrMapOvr>
    <a:masterClrMapping/>
  </p:clrMapOvr>
  <p:transition spd="fast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ROI = (revenue×gross_margin−spend)/spend; lift = (current−baseline)/baseline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ROI = (revenue×gross_margin−spend)/spend; lift = (current−baseline)/baseline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189</a:t>
            </a:r>
          </a:p>
        </p:txBody>
      </p:sp>
    </p:spTree>
  </p:cSld>
  <p:clrMapOvr>
    <a:masterClrMapping/>
  </p:clrMapOvr>
  <p:transition spd="fast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Small samples can produce dramatic but unreliable lift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190</a:t>
            </a:r>
          </a:p>
        </p:txBody>
      </p:sp>
    </p:spTree>
  </p:cSld>
  <p:clrMapOvr>
    <a:masterClrMapping/>
  </p:clrMapOvr>
  <p:transition spd="fast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period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Aggregate Channel-Period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Dashboard Dataset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channel-period metric table with CAC, ROAS, ROI, confidence and anomaly flags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Dashboard metrics match the formulas; anomalies include volume, baseline, guardrail status and analyst decision.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191</a:t>
            </a:r>
          </a:p>
        </p:txBody>
      </p:sp>
    </p:spTree>
  </p:cSld>
  <p:clrMapOvr>
    <a:masterClrMapping/>
  </p:clrMapOvr>
  <p:transition spd="fast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Small samples can produce dramatic but unreliable lift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Dashboard metrics match the formulas; anomalies include volume, baseline, guardrail status and analyst decision.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192</a:t>
            </a:r>
          </a:p>
        </p:txBody>
      </p:sp>
    </p:spTree>
  </p:cSld>
  <p:clrMapOvr>
    <a:masterClrMapping/>
  </p:clrMapOvr>
  <p:transition spd="fast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14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193</a:t>
            </a:r>
          </a:p>
        </p:txBody>
      </p:sp>
    </p:spTree>
  </p:cSld>
  <p:clrMapOvr>
    <a:masterClrMapping/>
  </p:clrMapOvr>
  <p:transition spd="fast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TOPIC 05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Optimisation Feedback Loop &amp; Capstone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19202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Scenario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40142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Build campaign stage 15 of the connected Northstar Launch marketing automation.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55648"/>
            <a:ext cx="5394960" cy="19202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55648"/>
            <a:ext cx="73152" cy="192024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7510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Artifact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87168"/>
            <a:ext cx="4242816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controlled recommendation, experiment update and approved next-cycle campaign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77639"/>
            <a:ext cx="51663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977639"/>
            <a:ext cx="73152" cy="15087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215383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91056" y="4197095"/>
            <a:ext cx="40142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Input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91056" y="4709159"/>
            <a:ext cx="40142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data/optimisation_actions.xlsx · 9 named fields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977639"/>
            <a:ext cx="5394960" cy="15087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977639"/>
            <a:ext cx="73152" cy="150876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215383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23367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197095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Acceptance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709159"/>
            <a:ext cx="4242816" cy="5943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No optimisation changes a live campaign automatically; approved recommendations create a measured next-cycle experiment with full lineage.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194</a:t>
            </a:r>
          </a:p>
        </p:txBody>
      </p:sp>
    </p:spTree>
  </p:cSld>
  <p:clrMapOvr>
    <a:masterClrMapping/>
  </p:clrMapOvr>
  <p:transition spd="fast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n8n execution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Schedule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7076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45364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1823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823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1823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Latest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2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3004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31292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7751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7751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751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Generate Recommendation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580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17220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Policy Guardrails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4860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03148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9607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9607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9607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Human Optimisation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6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07880" y="3456432"/>
            <a:ext cx="18288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90760" y="2194560"/>
            <a:ext cx="1676400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55352" y="2423160"/>
            <a:ext cx="530352" cy="53035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553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5352" y="3136392"/>
            <a:ext cx="1347216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168C8C"/>
                </a:solidFill>
                <a:latin typeface="Aptos"/>
              </a:rPr>
              <a:t>Approved Experiment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3640" y="3675888"/>
            <a:ext cx="1310640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/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Detailed build procedure is in the Learner Guide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195</a:t>
            </a:r>
          </a:p>
        </p:txBody>
      </p:sp>
    </p:spTree>
  </p:cSld>
  <p:clrMapOvr>
    <a:masterClrMapping/>
  </p:clrMapOvr>
  <p:transition spd="fast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input and output contract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" y="1920240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401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action_id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755648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36792" y="1920240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938528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46136" y="1929384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finding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4672" y="2907792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1401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evidence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2743200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36792" y="2907792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926080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6136" y="2916936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proposed_change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4672" y="3895344"/>
            <a:ext cx="14173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expected_impact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0488" y="3730752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336792" y="3895344"/>
            <a:ext cx="1417320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3913632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46136" y="3904488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risk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4672" y="4882896"/>
            <a:ext cx="141732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1401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owner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718304"/>
            <a:ext cx="5166360" cy="786384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36792" y="4882896"/>
            <a:ext cx="1417320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4901184"/>
            <a:ext cx="14173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FIELD 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6136" y="4892040"/>
            <a:ext cx="310896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21F27"/>
                </a:solidFill>
                <a:latin typeface="Aptos"/>
              </a:rPr>
              <a:t>decision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11680" y="5824728"/>
            <a:ext cx="8138160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11680" y="5843016"/>
            <a:ext cx="813816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Every downstream node reads this contract; schema drift routes to quarantine.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workflow JSON · mock Excel data dictionary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196</a:t>
            </a:r>
          </a:p>
        </p:txBody>
      </p:sp>
    </p:spTree>
  </p:cSld>
  <p:clrMapOvr>
    <a:masterClrMapping/>
  </p:clrMapOvr>
  <p:transition spd="fast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state and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58952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input accepted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42616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25496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90088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0088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8376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schema and policy pass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73752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56632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21224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1224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1224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9512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human decision required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87768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exact payload authorised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36024" y="3456432"/>
            <a:ext cx="182880" cy="0"/>
          </a:xfrm>
          <a:prstGeom prst="line">
            <a:avLst/>
          </a:prstGeom>
          <a:ln w="31750">
            <a:solidFill>
              <a:srgbClr val="512B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518904" y="2194560"/>
            <a:ext cx="2048256" cy="25146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683496" y="2423160"/>
            <a:ext cx="530352" cy="53035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83496" y="2450592"/>
            <a:ext cx="530352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83496" y="3136392"/>
            <a:ext cx="171907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512B58"/>
                </a:solidFill>
                <a:latin typeface="Aptos"/>
              </a:rPr>
              <a:t>RECORDED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01784" y="3675888"/>
            <a:ext cx="1682496" cy="7772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evidence ledger updated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17520" y="5074920"/>
            <a:ext cx="621792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17520" y="5093208"/>
            <a:ext cx="621792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stage may skip REVIEW when risk requires oversight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197</a:t>
            </a:r>
          </a:p>
        </p:txBody>
      </p:sp>
    </p:spTree>
  </p:cSld>
  <p:clrMapOvr>
    <a:masterClrMapping/>
  </p:clrMapOvr>
  <p:transition spd="fast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F0A202"/>
                </a:solidFill>
                <a:latin typeface="Aptos"/>
              </a:rPr>
              <a:t>WORKED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metric and decision rule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81360" cy="1188720"/>
          </a:xfrm>
          <a:prstGeom prst="round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48256"/>
            <a:ext cx="1037844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realised_lift = (new_result−baseline)/baseline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310128"/>
            <a:ext cx="521208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310128"/>
            <a:ext cx="73152" cy="20574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354787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91056" y="3529584"/>
            <a:ext cx="40599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Worked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1056" y="4041648"/>
            <a:ext cx="405993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Use the supplied mock workbook; reproduce the metric and compare with n8n output. Preserve units, grain and zero-division handling.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3310128"/>
            <a:ext cx="5394960" cy="20574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3310128"/>
            <a:ext cx="73152" cy="20574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73368" y="354787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56616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77456" y="3529584"/>
            <a:ext cx="424281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7456" y="4041648"/>
            <a:ext cx="4242816" cy="11430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Accept only when reproducible and evidence meets the threshold. Metric: realised_lift = (new_result−baseline)/baseline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198</a:t>
            </a:r>
          </a:p>
        </p:txBody>
      </p:sp>
    </p:spTree>
  </p:cSld>
  <p:clrMapOvr>
    <a:masterClrMapping/>
  </p:clrMapOvr>
  <p:transition spd="fast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FAILURE →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failure containment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self-optimising agent can chase short-term metrics and exceed delegated authority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Validate the contract, stop downstream execution, preserve the failed payload, assign an owner and require evidence before retry.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199</a:t>
            </a:r>
          </a:p>
        </p:txBody>
      </p:sp>
    </p:spTree>
  </p:cSld>
  <p:clrMapOvr>
    <a:masterClrMapping/>
  </p:clrMapOvr>
  <p:transition spd="fast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EXECUTION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Observable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73152" cy="310896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6654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action_id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00400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56432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56432" y="1828800"/>
            <a:ext cx="73152" cy="310896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5032" y="206654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Generate Recommendation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16752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272784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1828800"/>
            <a:ext cx="73152" cy="310896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01384" y="206654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1384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5472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Update Backlog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33104" y="3383280"/>
            <a:ext cx="228600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89136" y="1828800"/>
            <a:ext cx="2560320" cy="31089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89136" y="1828800"/>
            <a:ext cx="73152" cy="310896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17736" y="206654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21824" y="2048256"/>
            <a:ext cx="14081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21824" y="2560320"/>
            <a:ext cx="1408176" cy="2194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 controlled recommendation, experiment update and approved next-cycle campaign 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645920" y="5321808"/>
            <a:ext cx="8915400" cy="347472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645920" y="5340096"/>
            <a:ext cx="891540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 optimisation changes a live campaign automatically; approved recommendations create a measured next-cycle experiment with full lineage.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Expected evidence from lab workflow execution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200</a:t>
            </a:r>
          </a:p>
        </p:txBody>
      </p:sp>
    </p:spTree>
  </p:cSld>
  <p:clrMapOvr>
    <a:masterClrMapping/>
  </p:clrMapOvr>
  <p:transition spd="fast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WORKED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Decision Under Uncertainty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73152" cy="361188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93392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Observed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The output is plausible, but one assumption has weak evidence. A self-optimising agent can chase short-term metrics and exceed delegated authority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55648"/>
            <a:ext cx="73152" cy="361188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1993392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009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Human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009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Inspect lineage, compare the workbook, and approve only the exact version that meets: No optimisation changes a live campaign automatically; approved recommendations create a measured next-cycle experiment with full lineage.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755648"/>
            <a:ext cx="3383280" cy="361188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755648"/>
            <a:ext cx="73152" cy="361188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5048" y="1993392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80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89136" y="1975104"/>
            <a:ext cx="223113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Recorded outcome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2487168"/>
            <a:ext cx="2231136" cy="2697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Store reviewer, decision, timestamp, payload hash, evidence URI and next review date.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201</a:t>
            </a:r>
          </a:p>
        </p:txBody>
      </p:sp>
    </p:spTree>
  </p:cSld>
  <p:clrMapOvr>
    <a:masterClrMapping/>
  </p:clrMapOvr>
  <p:transition spd="fast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2E9D63"/>
                </a:solidFill>
                <a:latin typeface="Aptos"/>
              </a:rPr>
              <a:t>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Lab 15 — From Slide Model to Lab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Interpret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architecture + contract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detailed LG steps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Run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synthetic data only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run the acceptance check and retain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Explain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risk + control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Lab README · workflow.json · mock Excel · evidence checklist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202</a:t>
            </a:r>
          </a:p>
        </p:txBody>
      </p:sp>
    </p:spTree>
  </p:cSld>
  <p:clrMapOvr>
    <a:masterClrMapping/>
  </p:clrMapOvr>
  <p:transition spd="fast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12B58"/>
                </a:solidFill>
                <a:latin typeface="Aptos"/>
              </a:rPr>
              <a:t>END-TO-END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Capstone — Research to Social Publishing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Labs 1–3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33472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9504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18104" y="2313432"/>
            <a:ext cx="530352" cy="347472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18104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EF626C"/>
                </a:solidFill>
                <a:latin typeface="Aptos"/>
              </a:rPr>
              <a:t>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Labs 4–6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01184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57216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85816" y="2313432"/>
            <a:ext cx="530352" cy="347472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85816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68C8C"/>
                </a:solidFill>
                <a:latin typeface="Aptos"/>
              </a:rPr>
              <a:t>Create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Labs 7–9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68896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24928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53528" y="2313432"/>
            <a:ext cx="530352" cy="347472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F0A202"/>
                </a:solidFill>
                <a:latin typeface="Aptos"/>
              </a:rPr>
              <a:t>Approve &amp; publish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Labs 10–12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502152"/>
            <a:ext cx="210312" cy="0"/>
          </a:xfrm>
          <a:prstGeom prst="line">
            <a:avLst/>
          </a:prstGeom>
          <a:ln w="31750">
            <a:solidFill>
              <a:srgbClr val="16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92640" y="2057400"/>
            <a:ext cx="2011680" cy="288036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21240" y="2313432"/>
            <a:ext cx="530352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2331720"/>
            <a:ext cx="530352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93808" y="3026664"/>
            <a:ext cx="1627632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512B58"/>
                </a:solidFill>
                <a:latin typeface="Aptos"/>
              </a:rPr>
              <a:t>Measure &amp; learn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3566160"/>
            <a:ext cx="1627632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221F27"/>
                </a:solidFill>
                <a:latin typeface="Aptos"/>
              </a:rPr>
              <a:t>Labs 13–15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203</a:t>
            </a:r>
          </a:p>
        </p:txBody>
      </p:sp>
    </p:spTree>
  </p:cSld>
  <p:clrMapOvr>
    <a:masterClrMapping/>
  </p:clrMapOvr>
  <p:transition spd="fast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168C8C"/>
                </a:solidFill>
                <a:latin typeface="Aptos"/>
              </a:rPr>
              <a:t>NATIVE PPT 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Capstone campaign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737360"/>
          <a:ext cx="73152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0" y="1874519"/>
            <a:ext cx="3291840" cy="352044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0" y="1874519"/>
            <a:ext cx="73152" cy="352044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58200" y="2112263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130551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093975"/>
            <a:ext cx="21396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What the data shows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62288" y="2606039"/>
            <a:ext cx="2139696" cy="2606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Email and Search lead on contribution, but incrementality and volume still govern the next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Editable native PowerPoint chart · synthetic training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204</a:t>
            </a:r>
          </a:p>
        </p:txBody>
      </p:sp>
    </p:spTree>
  </p:cSld>
  <p:clrMapOvr>
    <a:masterClrMapping/>
  </p:clrMapOvr>
  <p:transition spd="fast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C93D4D"/>
                </a:solidFill>
                <a:latin typeface="Aptos"/>
              </a:rPr>
              <a:t>SAFE ORCHESTRATION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Capstone stop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489204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73152" cy="3474720"/>
          </a:xfrm>
          <a:prstGeom prst="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2066544"/>
            <a:ext cx="548640" cy="548640"/>
          </a:xfrm>
          <a:prstGeom prst="roundRect">
            <a:avLst/>
          </a:prstGeom>
          <a:solidFill>
            <a:srgbClr val="C93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2048256"/>
            <a:ext cx="373989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C93D4D"/>
                </a:solidFill>
                <a:latin typeface="Aptos"/>
              </a:rPr>
              <a:t>Failure 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560320"/>
            <a:ext cx="373989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Missing evidence, schema drift, rejected QA, payload hash mismatch, unavailable reviewer or channel error.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23560" y="3566160"/>
            <a:ext cx="822960" cy="0"/>
          </a:xfrm>
          <a:prstGeom prst="line">
            <a:avLst/>
          </a:prstGeom>
          <a:ln w="31750">
            <a:solidFill>
              <a:srgbClr val="F0A2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0528" y="1828800"/>
            <a:ext cx="5029200" cy="347472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10528" y="1828800"/>
            <a:ext cx="73152" cy="3474720"/>
          </a:xfrm>
          <a:prstGeom prst="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39128" y="2066544"/>
            <a:ext cx="548640" cy="548640"/>
          </a:xfrm>
          <a:prstGeom prst="roundRect">
            <a:avLst/>
          </a:prstGeom>
          <a:solidFill>
            <a:srgbClr val="2E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8" y="208483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3216" y="2048256"/>
            <a:ext cx="387705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2E9D63"/>
                </a:solidFill>
                <a:latin typeface="Aptos"/>
              </a:rPr>
              <a:t>Control and 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3216" y="2560320"/>
            <a:ext cx="3877056" cy="2560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Stop downstream execution, write the failed state, preserve payload evidence and assign a human owner.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5577840"/>
            <a:ext cx="6583680" cy="347472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5596128"/>
            <a:ext cx="65836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Automation stops safely; a named owner decides the next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205</a:t>
            </a:r>
          </a:p>
        </p:txBody>
      </p:sp>
    </p:spTree>
  </p:cSld>
  <p:clrMapOvr>
    <a:masterClrMapping/>
  </p:clrMapOvr>
  <p:transition spd="fast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LO1–LO3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What You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Evidence-led research with citation lineage.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RACE/SOSTAC, KPI contracts and ROI decisions.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Content, QA, approval and dry-run publishing.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Optimisation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Measured feedback without autonomous live mutation.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206</a:t>
            </a:r>
          </a:p>
        </p:txBody>
      </p:sp>
    </p:spTree>
  </p:cSld>
  <p:clrMapOvr>
    <a:masterClrMapping/>
  </p:clrMapOvr>
  <p:transition spd="fast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EF626C"/>
                </a:solidFill>
                <a:latin typeface="Aptos"/>
              </a:rPr>
              <a:t>COURSE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221F27"/>
                </a:solidFill>
                <a:latin typeface="Aptos"/>
              </a:rPr>
              <a:t>Tell Us How We Did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26464"/>
            <a:ext cx="11064240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737360"/>
            <a:ext cx="73152" cy="1828800"/>
          </a:xfrm>
          <a:prstGeom prst="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975104"/>
            <a:ext cx="548640" cy="548640"/>
          </a:xfrm>
          <a:prstGeom prst="roundRect">
            <a:avLst/>
          </a:prstGeom>
          <a:solidFill>
            <a:srgbClr val="512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512B58"/>
                </a:solidFill>
                <a:latin typeface="Aptos"/>
              </a:rPr>
              <a:t>Share your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Tell us what worked and what to improve.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7373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737360"/>
            <a:ext cx="73152" cy="1828800"/>
          </a:xfrm>
          <a:prstGeom prst="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1975104"/>
            <a:ext cx="548640" cy="548640"/>
          </a:xfrm>
          <a:prstGeom prst="roundRect">
            <a:avLst/>
          </a:prstGeom>
          <a:solidFill>
            <a:srgbClr val="EF6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9933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19568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EF626C"/>
                </a:solidFill>
                <a:latin typeface="Aptos"/>
              </a:rPr>
              <a:t>Rate the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59168" y="24688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Score content, delivery and hands-on labs.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794760"/>
            <a:ext cx="73152" cy="1828800"/>
          </a:xfrm>
          <a:prstGeom prst="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48640" cy="548640"/>
          </a:xfrm>
          <a:prstGeom prst="roundRect">
            <a:avLst/>
          </a:prstGeom>
          <a:solidFill>
            <a:srgbClr val="16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168C8C"/>
                </a:solidFill>
                <a:latin typeface="Aptos"/>
              </a:rPr>
              <a:t>Suggest improvements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Your comments shape the next revision.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794760"/>
            <a:ext cx="5303520" cy="1828800"/>
          </a:xfrm>
          <a:prstGeom prst="roundRect">
            <a:avLst/>
          </a:prstGeom>
          <a:solidFill>
            <a:srgbClr val="F7F4F8"/>
          </a:solidFill>
          <a:ln w="12700">
            <a:solidFill>
              <a:srgbClr val="E6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3794760"/>
            <a:ext cx="73152" cy="1828800"/>
          </a:xfrm>
          <a:prstGeom prst="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4032504"/>
            <a:ext cx="548640" cy="548640"/>
          </a:xfrm>
          <a:prstGeom prst="roundRect">
            <a:avLst/>
          </a:prstGeom>
          <a:solidFill>
            <a:srgbClr val="F0A2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4050792"/>
            <a:ext cx="5486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9168" y="4014216"/>
            <a:ext cx="4151376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1">
                <a:solidFill>
                  <a:srgbClr val="F0A202"/>
                </a:solidFill>
                <a:latin typeface="Aptos"/>
              </a:rPr>
              <a:t>Stay in touch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59168" y="4526280"/>
            <a:ext cx="4151376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221F27"/>
                </a:solidFill>
                <a:latin typeface="Aptos"/>
              </a:rPr>
              <a:t>Ask about follow-on courses and support.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6400800"/>
            <a:ext cx="11411712" cy="18288"/>
          </a:xfrm>
          <a:prstGeom prst="rect">
            <a:avLst/>
          </a:prstGeom>
          <a:solidFill>
            <a:srgbClr val="E6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6455664"/>
            <a:ext cx="7498079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655F69"/>
                </a:solidFill>
                <a:latin typeface="Aptos"/>
              </a:rPr>
              <a:t>Agentic AI for Digital Marketing and Advertising · C1798 · v2.0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6455664"/>
            <a:ext cx="521208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00" b="0">
                <a:solidFill>
                  <a:srgbClr val="655F69"/>
                </a:solidFill>
                <a:latin typeface="Aptos"/>
              </a:rPr>
              <a:t>Course page · n8n Docs · reference materials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502920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850" b="0">
                <a:solidFill>
                  <a:srgbClr val="655F69"/>
                </a:solidFill>
                <a:latin typeface="Aptos"/>
              </a:rPr>
              <a:t>207</a:t>
            </a:r>
          </a:p>
        </p:txBody>
      </p:sp>
    </p:spTree>
  </p:cSld>
  <p:clrMapOvr>
    <a:masterClrMapping/>
  </p:clrMapOvr>
  <p:transition spd="fast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7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46120"/>
            <a:ext cx="101498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2400" b="1">
                <a:solidFill>
                  <a:srgbClr val="EF626C"/>
                </a:solidFill>
                <a:latin typeface="Aptos"/>
              </a:rPr>
              <a:t>Automate the workflow. Preserve human judgement.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498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Agentic AI for Digital Marketing and Advertising · C1798 · v2.0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